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E14632-A0C5-43C1-BDC8-B14A5168DF56}" v="2" dt="2026-01-29T03:20:18.1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jkumar gunturu" userId="e6576f61b956e6f7" providerId="LiveId" clId="{01997EDA-06CD-4A4C-95AE-CB598EE83E01}"/>
    <pc:docChg chg="custSel addSld modSld">
      <pc:chgData name="manojkumar gunturu" userId="e6576f61b956e6f7" providerId="LiveId" clId="{01997EDA-06CD-4A4C-95AE-CB598EE83E01}" dt="2026-01-29T03:20:51.406" v="33" actId="14100"/>
      <pc:docMkLst>
        <pc:docMk/>
      </pc:docMkLst>
      <pc:sldChg chg="addSp delSp modSp new mod">
        <pc:chgData name="manojkumar gunturu" userId="e6576f61b956e6f7" providerId="LiveId" clId="{01997EDA-06CD-4A4C-95AE-CB598EE83E01}" dt="2026-01-29T03:19:54.644" v="21" actId="14100"/>
        <pc:sldMkLst>
          <pc:docMk/>
          <pc:sldMk cId="3896282110" sldId="264"/>
        </pc:sldMkLst>
        <pc:spChg chg="mod">
          <ac:chgData name="manojkumar gunturu" userId="e6576f61b956e6f7" providerId="LiveId" clId="{01997EDA-06CD-4A4C-95AE-CB598EE83E01}" dt="2026-01-29T03:19:16.493" v="14" actId="27636"/>
          <ac:spMkLst>
            <pc:docMk/>
            <pc:sldMk cId="3896282110" sldId="264"/>
            <ac:spMk id="2" creationId="{266CE3C2-C7C0-0CD0-2F67-9A642074571C}"/>
          </ac:spMkLst>
        </pc:spChg>
        <pc:spChg chg="del mod">
          <ac:chgData name="manojkumar gunturu" userId="e6576f61b956e6f7" providerId="LiveId" clId="{01997EDA-06CD-4A4C-95AE-CB598EE83E01}" dt="2026-01-29T03:19:28.141" v="17"/>
          <ac:spMkLst>
            <pc:docMk/>
            <pc:sldMk cId="3896282110" sldId="264"/>
            <ac:spMk id="3" creationId="{FAB69F19-070D-181C-346B-A1D5B431B72A}"/>
          </ac:spMkLst>
        </pc:spChg>
        <pc:picChg chg="add mod">
          <ac:chgData name="manojkumar gunturu" userId="e6576f61b956e6f7" providerId="LiveId" clId="{01997EDA-06CD-4A4C-95AE-CB598EE83E01}" dt="2026-01-29T03:19:54.644" v="21" actId="14100"/>
          <ac:picMkLst>
            <pc:docMk/>
            <pc:sldMk cId="3896282110" sldId="264"/>
            <ac:picMk id="4" creationId="{5A17D2D3-2E27-A65F-57DD-82D2DF43ABF4}"/>
          </ac:picMkLst>
        </pc:picChg>
      </pc:sldChg>
      <pc:sldChg chg="addSp delSp modSp new mod">
        <pc:chgData name="manojkumar gunturu" userId="e6576f61b956e6f7" providerId="LiveId" clId="{01997EDA-06CD-4A4C-95AE-CB598EE83E01}" dt="2026-01-29T03:20:51.406" v="33" actId="14100"/>
        <pc:sldMkLst>
          <pc:docMk/>
          <pc:sldMk cId="1608055811" sldId="265"/>
        </pc:sldMkLst>
        <pc:spChg chg="del mod">
          <ac:chgData name="manojkumar gunturu" userId="e6576f61b956e6f7" providerId="LiveId" clId="{01997EDA-06CD-4A4C-95AE-CB598EE83E01}" dt="2026-01-29T03:20:02.964" v="24" actId="478"/>
          <ac:spMkLst>
            <pc:docMk/>
            <pc:sldMk cId="1608055811" sldId="265"/>
            <ac:spMk id="2" creationId="{4052E9FE-87C4-78AB-47F7-B5516EF56454}"/>
          </ac:spMkLst>
        </pc:spChg>
        <pc:spChg chg="del mod">
          <ac:chgData name="manojkumar gunturu" userId="e6576f61b956e6f7" providerId="LiveId" clId="{01997EDA-06CD-4A4C-95AE-CB598EE83E01}" dt="2026-01-29T03:20:18.195" v="27"/>
          <ac:spMkLst>
            <pc:docMk/>
            <pc:sldMk cId="1608055811" sldId="265"/>
            <ac:spMk id="3" creationId="{4833BF15-E73C-8D41-6920-36774359EE7F}"/>
          </ac:spMkLst>
        </pc:spChg>
        <pc:picChg chg="add mod">
          <ac:chgData name="manojkumar gunturu" userId="e6576f61b956e6f7" providerId="LiveId" clId="{01997EDA-06CD-4A4C-95AE-CB598EE83E01}" dt="2026-01-29T03:20:51.406" v="33" actId="14100"/>
          <ac:picMkLst>
            <pc:docMk/>
            <pc:sldMk cId="1608055811" sldId="265"/>
            <ac:picMk id="4" creationId="{F26FDEF0-9ECF-18E6-3EB8-004394419E2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5A09-E2F8-26EB-E829-2C846EC459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58A953-8767-64F8-116A-C607B1203B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63095F-9F1E-44B0-15A4-6552DCB4CEEF}"/>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5" name="Footer Placeholder 4">
            <a:extLst>
              <a:ext uri="{FF2B5EF4-FFF2-40B4-BE49-F238E27FC236}">
                <a16:creationId xmlns:a16="http://schemas.microsoft.com/office/drawing/2014/main" id="{CB48B88A-F37C-1117-DA96-0F3518D00C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DFBC3B-01B0-D7C7-3C0C-17307F43BDA1}"/>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2953222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4063-97BD-8921-359D-C7C70E9C10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46D44E-D678-936A-717E-1416F0679D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714037-2D56-B408-D255-A057B71EB4B3}"/>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5" name="Footer Placeholder 4">
            <a:extLst>
              <a:ext uri="{FF2B5EF4-FFF2-40B4-BE49-F238E27FC236}">
                <a16:creationId xmlns:a16="http://schemas.microsoft.com/office/drawing/2014/main" id="{0F72A7E7-C715-E640-D0CF-4DC851E092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C91A4A-8328-D62A-4AC9-F70146889EE8}"/>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4008625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5375B-E67C-4403-8CEB-37F923E1BB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EA3838-3DED-0CB5-EF6E-BEFDB71581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4A2497-BC05-BF7D-F8B2-5FF91CCA9E67}"/>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5" name="Footer Placeholder 4">
            <a:extLst>
              <a:ext uri="{FF2B5EF4-FFF2-40B4-BE49-F238E27FC236}">
                <a16:creationId xmlns:a16="http://schemas.microsoft.com/office/drawing/2014/main" id="{FF7B9172-359E-FF7F-8C89-CCDB2F288A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18B2DE-74FB-0767-8103-2A67850B0A9E}"/>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1441924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A458B-5D01-56ED-6F8D-67BD489D77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4BC379-3673-DB34-05EE-4BF6680E17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2B1E30-91AE-A1BA-34AF-6F4B55771B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D88ACF-679A-C3A1-B5EF-96DE88942D91}"/>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6" name="Footer Placeholder 5">
            <a:extLst>
              <a:ext uri="{FF2B5EF4-FFF2-40B4-BE49-F238E27FC236}">
                <a16:creationId xmlns:a16="http://schemas.microsoft.com/office/drawing/2014/main" id="{D4761286-ECE1-DB53-0015-B296D0F90B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2DFFC7-7A01-69E7-31DB-FBC9D3863B53}"/>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272609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CAC6B-A6AB-F360-8E2B-7A0FC1E6036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41AEC0-9354-F634-C637-877C2891F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16E015-F8B5-FCDA-E368-822AFCE8C2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CB7C62B-8F43-786E-7BC9-C54F825DDC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0363A5-94A3-FC11-3385-0A7D25167C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6D6A47-C77B-C015-F0AC-EB32C22E4559}"/>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8" name="Footer Placeholder 7">
            <a:extLst>
              <a:ext uri="{FF2B5EF4-FFF2-40B4-BE49-F238E27FC236}">
                <a16:creationId xmlns:a16="http://schemas.microsoft.com/office/drawing/2014/main" id="{5F3C4200-DAF3-6B2D-43AA-0B70981227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B90373-D3A3-FF3A-288C-78DF6DEACE7F}"/>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2327883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D816-B2DE-85FF-D291-9EED046FE6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86B20A-E709-5AE9-34A5-8B84F807DA98}"/>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4" name="Footer Placeholder 3">
            <a:extLst>
              <a:ext uri="{FF2B5EF4-FFF2-40B4-BE49-F238E27FC236}">
                <a16:creationId xmlns:a16="http://schemas.microsoft.com/office/drawing/2014/main" id="{596253C8-3268-F99A-D4D9-99823C6DC4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4C834D-41E7-124E-4B87-AF176CFB65C6}"/>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3599842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503483-B234-56F0-9210-7CF1DF893E38}"/>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3" name="Footer Placeholder 2">
            <a:extLst>
              <a:ext uri="{FF2B5EF4-FFF2-40B4-BE49-F238E27FC236}">
                <a16:creationId xmlns:a16="http://schemas.microsoft.com/office/drawing/2014/main" id="{21B6BB88-BC22-F56E-CDF0-F6D1DFC610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75809A-3F71-6F57-A610-B58E04820F27}"/>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689164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3741-1F72-3A3F-2AD7-01EF7D54D7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EF1BF8-47A1-570B-15B2-96A1C4E407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91CFAD-46A3-0378-0004-CC4238CD6D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923114-E94A-6898-2E4C-AA1D199075A2}"/>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6" name="Footer Placeholder 5">
            <a:extLst>
              <a:ext uri="{FF2B5EF4-FFF2-40B4-BE49-F238E27FC236}">
                <a16:creationId xmlns:a16="http://schemas.microsoft.com/office/drawing/2014/main" id="{A2A478C5-D6EB-24A7-E26E-02200696EE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A425EB-3A56-EE8D-AF73-4CBCBF2A0BC4}"/>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2019571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E742E-980C-0BBE-370F-2B35C8C837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0DF9AD0-E4CB-A8DE-8375-29BBDF8FF8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DCB626-23B8-6FC5-96B5-5323B1B2ED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71CC73-CDBF-51D7-632D-DB9A4ACA3AC6}"/>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6" name="Footer Placeholder 5">
            <a:extLst>
              <a:ext uri="{FF2B5EF4-FFF2-40B4-BE49-F238E27FC236}">
                <a16:creationId xmlns:a16="http://schemas.microsoft.com/office/drawing/2014/main" id="{408CC502-598C-A362-E25C-213D3CE75E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B38A4B-430F-47E4-7CC5-EE849D941F81}"/>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3902065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2A9A8-630B-380F-87DB-FFE4D6680F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EA1FF9-36D4-E06F-390A-7418439A01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43DC62-0711-D41C-407F-066FD8BD0077}"/>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5" name="Footer Placeholder 4">
            <a:extLst>
              <a:ext uri="{FF2B5EF4-FFF2-40B4-BE49-F238E27FC236}">
                <a16:creationId xmlns:a16="http://schemas.microsoft.com/office/drawing/2014/main" id="{B5C924EC-59DF-D5B1-C15A-DD815C6F20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3AA26A-308C-3E0E-85EA-9F94BB9E3812}"/>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393542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48BC35-D3EE-518B-CC8E-14CEDD2939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A503DE-74B8-D454-283A-5FC77811EB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244C84-219E-2C4E-D0A0-B8020A6BF8E1}"/>
              </a:ext>
            </a:extLst>
          </p:cNvPr>
          <p:cNvSpPr>
            <a:spLocks noGrp="1"/>
          </p:cNvSpPr>
          <p:nvPr>
            <p:ph type="dt" sz="half" idx="10"/>
          </p:nvPr>
        </p:nvSpPr>
        <p:spPr/>
        <p:txBody>
          <a:bodyPr/>
          <a:lstStyle/>
          <a:p>
            <a:fld id="{6BC35268-1A72-4197-9F07-B91E84CE22A9}" type="datetimeFigureOut">
              <a:rPr lang="en-IN" smtClean="0"/>
              <a:t>29-01-2026</a:t>
            </a:fld>
            <a:endParaRPr lang="en-IN"/>
          </a:p>
        </p:txBody>
      </p:sp>
      <p:sp>
        <p:nvSpPr>
          <p:cNvPr id="5" name="Footer Placeholder 4">
            <a:extLst>
              <a:ext uri="{FF2B5EF4-FFF2-40B4-BE49-F238E27FC236}">
                <a16:creationId xmlns:a16="http://schemas.microsoft.com/office/drawing/2014/main" id="{923C2E32-1D67-CBF7-6D9E-F150BDF4F8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ECD186-8C4A-BF7F-9260-B97B16E2247E}"/>
              </a:ext>
            </a:extLst>
          </p:cNvPr>
          <p:cNvSpPr>
            <a:spLocks noGrp="1"/>
          </p:cNvSpPr>
          <p:nvPr>
            <p:ph type="sldNum" sz="quarter" idx="12"/>
          </p:nvPr>
        </p:nvSpPr>
        <p:spPr/>
        <p:txBody>
          <a:bodyPr/>
          <a:lstStyle/>
          <a:p>
            <a:fld id="{C975EA73-5530-46AD-8E12-D1439CB835C1}" type="slidenum">
              <a:rPr lang="en-IN" smtClean="0"/>
              <a:t>‹#›</a:t>
            </a:fld>
            <a:endParaRPr lang="en-IN"/>
          </a:p>
        </p:txBody>
      </p:sp>
    </p:spTree>
    <p:extLst>
      <p:ext uri="{BB962C8B-B14F-4D97-AF65-F5344CB8AC3E}">
        <p14:creationId xmlns:p14="http://schemas.microsoft.com/office/powerpoint/2010/main" val="3304072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11F8BC-B9C3-677E-0D36-60FF6C9A38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3779CE-4A3D-0DC2-96C3-532F60DD4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BD48D2-ADC1-5B3B-CCB6-4C7D70BE0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35268-1A72-4197-9F07-B91E84CE22A9}" type="datetimeFigureOut">
              <a:rPr lang="en-IN" smtClean="0"/>
              <a:t>29-01-2026</a:t>
            </a:fld>
            <a:endParaRPr lang="en-IN"/>
          </a:p>
        </p:txBody>
      </p:sp>
      <p:sp>
        <p:nvSpPr>
          <p:cNvPr id="5" name="Footer Placeholder 4">
            <a:extLst>
              <a:ext uri="{FF2B5EF4-FFF2-40B4-BE49-F238E27FC236}">
                <a16:creationId xmlns:a16="http://schemas.microsoft.com/office/drawing/2014/main" id="{63F800CC-EC61-AF33-2F3E-5F7E2256F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EF4FD1B-B362-2597-FA18-B1419F2F44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75EA73-5530-46AD-8E12-D1439CB835C1}" type="slidenum">
              <a:rPr lang="en-IN" smtClean="0"/>
              <a:t>‹#›</a:t>
            </a:fld>
            <a:endParaRPr lang="en-IN"/>
          </a:p>
        </p:txBody>
      </p:sp>
    </p:spTree>
    <p:extLst>
      <p:ext uri="{BB962C8B-B14F-4D97-AF65-F5344CB8AC3E}">
        <p14:creationId xmlns:p14="http://schemas.microsoft.com/office/powerpoint/2010/main" val="2884449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ixabay.com/en/hand-leave-pen-paper-thank-you-226358/"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7AB38-1C2E-2286-E91D-001942AB5964}"/>
              </a:ext>
            </a:extLst>
          </p:cNvPr>
          <p:cNvSpPr>
            <a:spLocks noGrp="1"/>
          </p:cNvSpPr>
          <p:nvPr>
            <p:ph type="ctrTitle"/>
          </p:nvPr>
        </p:nvSpPr>
        <p:spPr>
          <a:xfrm>
            <a:off x="1524000" y="489857"/>
            <a:ext cx="9144000" cy="3020106"/>
          </a:xfrm>
        </p:spPr>
        <p:txBody>
          <a:bodyPr>
            <a:normAutofit fontScale="90000"/>
          </a:bodyPr>
          <a:lstStyle/>
          <a:p>
            <a:r>
              <a:rPr lang="en-US" dirty="0">
                <a:latin typeface="Times New Roman" panose="02020603050405020304" pitchFamily="18" charset="0"/>
                <a:cs typeface="Times New Roman" panose="02020603050405020304" pitchFamily="18" charset="0"/>
              </a:rPr>
              <a:t>Adaptive Pricing and Profit Optimization Using Machine Learning with an Iterative Development Model</a:t>
            </a:r>
            <a:endParaRPr lang="en-IN" dirty="0"/>
          </a:p>
        </p:txBody>
      </p:sp>
      <p:sp>
        <p:nvSpPr>
          <p:cNvPr id="3" name="Subtitle 2">
            <a:extLst>
              <a:ext uri="{FF2B5EF4-FFF2-40B4-BE49-F238E27FC236}">
                <a16:creationId xmlns:a16="http://schemas.microsoft.com/office/drawing/2014/main" id="{DC8DEB73-7B4B-4AA8-C7EB-BBDE40403E7B}"/>
              </a:ext>
            </a:extLst>
          </p:cNvPr>
          <p:cNvSpPr>
            <a:spLocks noGrp="1"/>
          </p:cNvSpPr>
          <p:nvPr>
            <p:ph type="subTitle" idx="1"/>
          </p:nvPr>
        </p:nvSpPr>
        <p:spPr>
          <a:xfrm>
            <a:off x="1524000" y="3602037"/>
            <a:ext cx="9144000" cy="2472191"/>
          </a:xfrm>
        </p:spPr>
        <p:txBody>
          <a:bodyPr>
            <a:noAutofit/>
          </a:bodyPr>
          <a:lstStyle/>
          <a:p>
            <a:r>
              <a:rPr lang="en-IN" dirty="0">
                <a:latin typeface="Times New Roman" panose="02020603050405020304" pitchFamily="18" charset="0"/>
                <a:cs typeface="Times New Roman" panose="02020603050405020304" pitchFamily="18" charset="0"/>
              </a:rPr>
              <a:t>FINAL YEAR PROJECT PRESENTATION</a:t>
            </a:r>
          </a:p>
          <a:p>
            <a:r>
              <a:rPr lang="en-IN" sz="2800" dirty="0">
                <a:latin typeface="Times New Roman" panose="02020603050405020304" pitchFamily="18" charset="0"/>
                <a:cs typeface="Times New Roman" panose="02020603050405020304" pitchFamily="18" charset="0"/>
              </a:rPr>
              <a:t>Guide : Dr. J. Vinoj</a:t>
            </a:r>
          </a:p>
          <a:p>
            <a:r>
              <a:rPr lang="en-IN" dirty="0">
                <a:latin typeface="Times New Roman" panose="02020603050405020304" pitchFamily="18" charset="0"/>
                <a:cs typeface="Times New Roman" panose="02020603050405020304" pitchFamily="18" charset="0"/>
              </a:rPr>
              <a:t>(Department of CSE, VFSTR)</a:t>
            </a:r>
          </a:p>
          <a:p>
            <a:r>
              <a:rPr lang="en-IN" dirty="0">
                <a:latin typeface="Times New Roman" panose="02020603050405020304" pitchFamily="18" charset="0"/>
                <a:cs typeface="Times New Roman" panose="02020603050405020304" pitchFamily="18" charset="0"/>
              </a:rPr>
              <a:t>BATCH – 052</a:t>
            </a:r>
          </a:p>
          <a:p>
            <a:r>
              <a:rPr lang="en-IN" dirty="0">
                <a:latin typeface="Times New Roman" panose="02020603050405020304" pitchFamily="18" charset="0"/>
                <a:cs typeface="Times New Roman" panose="02020603050405020304" pitchFamily="18" charset="0"/>
              </a:rPr>
              <a:t>221FA04150 – POORNA SAI MANNEM</a:t>
            </a:r>
          </a:p>
          <a:p>
            <a:r>
              <a:rPr lang="en-IN" dirty="0">
                <a:latin typeface="Times New Roman" panose="02020603050405020304" pitchFamily="18" charset="0"/>
                <a:cs typeface="Times New Roman" panose="02020603050405020304" pitchFamily="18" charset="0"/>
              </a:rPr>
              <a:t>      221FA04095 – MANOJ KUMAR GUNTURU</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331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7B49-5DC6-040E-3C7E-51C93ADA4CB6}"/>
              </a:ext>
            </a:extLst>
          </p:cNvPr>
          <p:cNvSpPr>
            <a:spLocks noGrp="1"/>
          </p:cNvSpPr>
          <p:nvPr>
            <p:ph type="title"/>
          </p:nvPr>
        </p:nvSpPr>
        <p:spPr>
          <a:xfrm>
            <a:off x="838200" y="365125"/>
            <a:ext cx="10515600" cy="549275"/>
          </a:xfrm>
        </p:spPr>
        <p:txBody>
          <a:bodyPr>
            <a:normAutofit fontScale="90000"/>
          </a:bodyPr>
          <a:lstStyle/>
          <a:p>
            <a:pPr algn="just"/>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796453-EDEF-D52A-377C-01718631FCD8}"/>
              </a:ext>
            </a:extLst>
          </p:cNvPr>
          <p:cNvSpPr>
            <a:spLocks noGrp="1"/>
          </p:cNvSpPr>
          <p:nvPr>
            <p:ph idx="1"/>
          </p:nvPr>
        </p:nvSpPr>
        <p:spPr>
          <a:xfrm>
            <a:off x="838200" y="1164771"/>
            <a:ext cx="10515600" cy="5012192"/>
          </a:xfrm>
        </p:spPr>
        <p:txBody>
          <a:bodyPr/>
          <a:lstStyle/>
          <a:p>
            <a:pPr marL="0" indent="0" algn="just">
              <a:buNone/>
            </a:pPr>
            <a:r>
              <a:rPr lang="en-US" dirty="0">
                <a:latin typeface="Times New Roman" panose="02020603050405020304" pitchFamily="18" charset="0"/>
                <a:cs typeface="Times New Roman" panose="02020603050405020304" pitchFamily="18" charset="0"/>
              </a:rPr>
              <a:t>In today’s highly competitive and data-driven digital economy, pricing has emerged as a critical strategic lever for maximizing revenue and profitability. Traditional static pricing approaches, which rely on fixed price points, often fail to respond effectively to rapidly changing market conditions, customer behavior, and competitive dynamics. As a result, organizations particularly in e-commerce and online services—are increasingly adopting </a:t>
            </a:r>
            <a:r>
              <a:rPr lang="en-US" b="1" dirty="0">
                <a:latin typeface="Times New Roman" panose="02020603050405020304" pitchFamily="18" charset="0"/>
                <a:cs typeface="Times New Roman" panose="02020603050405020304" pitchFamily="18" charset="0"/>
              </a:rPr>
              <a:t>adaptive and dynamic pricing strategies</a:t>
            </a:r>
            <a:r>
              <a:rPr lang="en-US" dirty="0">
                <a:latin typeface="Times New Roman" panose="02020603050405020304" pitchFamily="18" charset="0"/>
                <a:cs typeface="Times New Roman" panose="02020603050405020304" pitchFamily="18" charset="0"/>
              </a:rPr>
              <a:t> that adjust prices in real time based on demand patterns, customer preferences, and market signals.</a:t>
            </a:r>
          </a:p>
          <a:p>
            <a:pPr marL="0" indent="0" algn="just">
              <a:buNone/>
            </a:pPr>
            <a:r>
              <a:rPr lang="en-US" dirty="0">
                <a:latin typeface="Times New Roman" panose="02020603050405020304" pitchFamily="18" charset="0"/>
                <a:cs typeface="Times New Roman" panose="02020603050405020304" pitchFamily="18" charset="0"/>
              </a:rPr>
              <a:t>With the exponential growth of transactional data and advances in computational capabilities, </a:t>
            </a:r>
            <a:r>
              <a:rPr lang="en-US" b="1" dirty="0">
                <a:latin typeface="Times New Roman" panose="02020603050405020304" pitchFamily="18" charset="0"/>
                <a:cs typeface="Times New Roman" panose="02020603050405020304" pitchFamily="18" charset="0"/>
              </a:rPr>
              <a:t>machine learning (ML)</a:t>
            </a:r>
            <a:r>
              <a:rPr lang="en-US" dirty="0">
                <a:latin typeface="Times New Roman" panose="02020603050405020304" pitchFamily="18" charset="0"/>
                <a:cs typeface="Times New Roman" panose="02020603050405020304" pitchFamily="18" charset="0"/>
              </a:rPr>
              <a:t> has become a powerful enabler of dynamic pricing systems</a:t>
            </a: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2122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12824-575A-99A8-B35B-4B9766BF766E}"/>
              </a:ext>
            </a:extLst>
          </p:cNvPr>
          <p:cNvSpPr>
            <a:spLocks noGrp="1"/>
          </p:cNvSpPr>
          <p:nvPr>
            <p:ph type="title"/>
          </p:nvPr>
        </p:nvSpPr>
        <p:spPr>
          <a:xfrm>
            <a:off x="838200" y="365125"/>
            <a:ext cx="10515600" cy="919389"/>
          </a:xfrm>
        </p:spPr>
        <p:txBody>
          <a:bodyPr>
            <a:normAutofit fontScale="90000"/>
          </a:bodyPr>
          <a:lstStyle/>
          <a:p>
            <a:pPr algn="just"/>
            <a:r>
              <a:rPr lang="en-US" dirty="0">
                <a:latin typeface="Times New Roman" panose="02020603050405020304" pitchFamily="18" charset="0"/>
                <a:cs typeface="Times New Roman" panose="02020603050405020304" pitchFamily="18" charset="0"/>
              </a:rPr>
              <a:t>Identification of Tools / Equipment / Training Needs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0EC421-EE20-57A1-0390-C25AFE4451D5}"/>
              </a:ext>
            </a:extLst>
          </p:cNvPr>
          <p:cNvSpPr>
            <a:spLocks noGrp="1"/>
          </p:cNvSpPr>
          <p:nvPr>
            <p:ph idx="1"/>
          </p:nvPr>
        </p:nvSpPr>
        <p:spPr>
          <a:xfrm>
            <a:off x="838200" y="1284514"/>
            <a:ext cx="10515600" cy="5290457"/>
          </a:xfrm>
        </p:spPr>
        <p:txBody>
          <a:bodyPr/>
          <a:lstStyle/>
          <a:p>
            <a:pPr marL="0" indent="0" algn="just">
              <a:buNone/>
            </a:pPr>
            <a:r>
              <a:rPr lang="en-IN" b="1" u="sng" dirty="0">
                <a:latin typeface="Times New Roman" panose="02020603050405020304" pitchFamily="18" charset="0"/>
                <a:cs typeface="Times New Roman" panose="02020603050405020304" pitchFamily="18" charset="0"/>
              </a:rPr>
              <a:t>Programming Language:</a:t>
            </a:r>
          </a:p>
          <a:p>
            <a:pPr marL="0" indent="0" algn="just">
              <a:buNone/>
            </a:pPr>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is used as the primary programming language due to its simplicity and strong support for machine learning and data analysis.</a:t>
            </a:r>
          </a:p>
          <a:p>
            <a:pPr marL="0" indent="0" algn="just">
              <a:buNone/>
            </a:pPr>
            <a:r>
              <a:rPr lang="en-IN" b="1" u="sng" dirty="0">
                <a:latin typeface="Times New Roman" panose="02020603050405020304" pitchFamily="18" charset="0"/>
                <a:cs typeface="Times New Roman" panose="02020603050405020304" pitchFamily="18" charset="0"/>
              </a:rPr>
              <a:t>Development Environment</a:t>
            </a:r>
          </a:p>
          <a:p>
            <a:pPr marL="0" indent="0" algn="just">
              <a:buNone/>
            </a:pPr>
            <a:r>
              <a:rPr lang="en-US" b="1" dirty="0" err="1">
                <a:latin typeface="Times New Roman" panose="02020603050405020304" pitchFamily="18" charset="0"/>
                <a:cs typeface="Times New Roman" panose="02020603050405020304" pitchFamily="18" charset="0"/>
              </a:rPr>
              <a:t>Jupyter</a:t>
            </a:r>
            <a:r>
              <a:rPr lang="en-US" b="1" dirty="0">
                <a:latin typeface="Times New Roman" panose="02020603050405020304" pitchFamily="18" charset="0"/>
                <a:cs typeface="Times New Roman" panose="02020603050405020304" pitchFamily="18" charset="0"/>
              </a:rPr>
              <a:t> Notebook / Google </a:t>
            </a:r>
            <a:r>
              <a:rPr lang="en-US" b="1"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is used for writing, testing, and visualizing machine learning models interactively.</a:t>
            </a:r>
          </a:p>
          <a:p>
            <a:pPr marL="0" indent="0" algn="just">
              <a:buNone/>
            </a:pPr>
            <a:r>
              <a:rPr lang="en-IN" b="1" u="sng" dirty="0">
                <a:latin typeface="Times New Roman" panose="02020603050405020304" pitchFamily="18" charset="0"/>
                <a:cs typeface="Times New Roman" panose="02020603050405020304" pitchFamily="18" charset="0"/>
              </a:rPr>
              <a:t>Data Analysis Libraries</a:t>
            </a:r>
          </a:p>
          <a:p>
            <a:pPr marL="0" indent="0" algn="just">
              <a:buNone/>
            </a:pPr>
            <a:r>
              <a:rPr lang="en-US" b="1" dirty="0">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For numerical computations and matrix operations.</a:t>
            </a:r>
          </a:p>
          <a:p>
            <a:pPr marL="0" indent="0" algn="just">
              <a:buNone/>
            </a:pPr>
            <a:r>
              <a:rPr lang="en-US" b="1" dirty="0">
                <a:latin typeface="Times New Roman" panose="02020603050405020304" pitchFamily="18" charset="0"/>
                <a:cs typeface="Times New Roman" panose="02020603050405020304" pitchFamily="18" charset="0"/>
              </a:rPr>
              <a:t>Pandas</a:t>
            </a:r>
            <a:r>
              <a:rPr lang="en-US" dirty="0">
                <a:latin typeface="Times New Roman" panose="02020603050405020304" pitchFamily="18" charset="0"/>
                <a:cs typeface="Times New Roman" panose="02020603050405020304" pitchFamily="18" charset="0"/>
              </a:rPr>
              <a:t>: For data cleaning, preprocessing, and handling structured datasets.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435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22D59-C42A-30CE-D0DB-E06AF65F409C}"/>
              </a:ext>
            </a:extLst>
          </p:cNvPr>
          <p:cNvSpPr>
            <a:spLocks noGrp="1"/>
          </p:cNvSpPr>
          <p:nvPr>
            <p:ph idx="1"/>
          </p:nvPr>
        </p:nvSpPr>
        <p:spPr>
          <a:xfrm>
            <a:off x="838200" y="631371"/>
            <a:ext cx="10515600" cy="5545592"/>
          </a:xfrm>
        </p:spPr>
        <p:txBody>
          <a:bodyPr/>
          <a:lstStyle/>
          <a:p>
            <a:pPr marL="0" indent="0" algn="just">
              <a:buNone/>
            </a:pPr>
            <a:r>
              <a:rPr lang="en-IN" b="1" u="sng" dirty="0">
                <a:latin typeface="Times New Roman" panose="02020603050405020304" pitchFamily="18" charset="0"/>
                <a:cs typeface="Times New Roman" panose="02020603050405020304" pitchFamily="18" charset="0"/>
              </a:rPr>
              <a:t>Data Visualization Tools</a:t>
            </a:r>
          </a:p>
          <a:p>
            <a:pPr marL="0" indent="0" algn="just">
              <a:buNone/>
            </a:pPr>
            <a:r>
              <a:rPr lang="en-US" b="1" dirty="0">
                <a:latin typeface="Times New Roman" panose="02020603050405020304" pitchFamily="18" charset="0"/>
                <a:cs typeface="Times New Roman" panose="02020603050405020304" pitchFamily="18" charset="0"/>
              </a:rPr>
              <a:t>Matplotlib</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Seaborn</a:t>
            </a:r>
            <a:r>
              <a:rPr lang="en-US" dirty="0">
                <a:latin typeface="Times New Roman" panose="02020603050405020304" pitchFamily="18" charset="0"/>
                <a:cs typeface="Times New Roman" panose="02020603050405020304" pitchFamily="18" charset="0"/>
              </a:rPr>
              <a:t>: Used to visualize trends in pricing, demand, and profit to better understand the dataset.</a:t>
            </a:r>
          </a:p>
          <a:p>
            <a:pPr marL="0" indent="0" algn="just">
              <a:buNone/>
            </a:pPr>
            <a:r>
              <a:rPr lang="en-US" b="1" u="sng" dirty="0">
                <a:latin typeface="Times New Roman" panose="02020603050405020304" pitchFamily="18" charset="0"/>
                <a:cs typeface="Times New Roman" panose="02020603050405020304" pitchFamily="18" charset="0"/>
              </a:rPr>
              <a:t>Machine Learning Libraries</a:t>
            </a:r>
          </a:p>
          <a:p>
            <a:pPr marL="0" indent="0" algn="just">
              <a:buNone/>
            </a:pPr>
            <a:r>
              <a:rPr lang="en-US" b="1" dirty="0">
                <a:latin typeface="Times New Roman" panose="02020603050405020304" pitchFamily="18" charset="0"/>
                <a:cs typeface="Times New Roman" panose="02020603050405020304" pitchFamily="18" charset="0"/>
              </a:rPr>
              <a:t>Scikit-learn</a:t>
            </a:r>
            <a:r>
              <a:rPr lang="en-US" dirty="0">
                <a:latin typeface="Times New Roman" panose="02020603050405020304" pitchFamily="18" charset="0"/>
                <a:cs typeface="Times New Roman" panose="02020603050405020304" pitchFamily="18" charset="0"/>
              </a:rPr>
              <a:t>: Used for building regression and prediction models such as Linear Regression and Random Forest.</a:t>
            </a:r>
          </a:p>
          <a:p>
            <a:pPr marL="0" indent="0" algn="just">
              <a:buNone/>
            </a:pPr>
            <a:r>
              <a:rPr lang="en-US" b="1"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 Used for improving prediction accuracy in advanced stages.</a:t>
            </a:r>
          </a:p>
          <a:p>
            <a:pPr marL="0" indent="0" algn="just">
              <a:buNone/>
            </a:pPr>
            <a:r>
              <a:rPr lang="en-US" b="1" u="sng" dirty="0">
                <a:latin typeface="Times New Roman" panose="02020603050405020304" pitchFamily="18" charset="0"/>
                <a:cs typeface="Times New Roman" panose="02020603050405020304" pitchFamily="18" charset="0"/>
              </a:rPr>
              <a:t>Dataset Sources</a:t>
            </a:r>
          </a:p>
          <a:p>
            <a:pPr marL="0" indent="0" algn="just">
              <a:buNone/>
            </a:pPr>
            <a:r>
              <a:rPr lang="en-US" dirty="0">
                <a:latin typeface="Times New Roman" panose="02020603050405020304" pitchFamily="18" charset="0"/>
                <a:cs typeface="Times New Roman" panose="02020603050405020304" pitchFamily="18" charset="0"/>
              </a:rPr>
              <a:t>Real-world datasets from platforms such as </a:t>
            </a:r>
            <a:r>
              <a:rPr lang="en-US" b="1" dirty="0">
                <a:latin typeface="Times New Roman" panose="02020603050405020304" pitchFamily="18" charset="0"/>
                <a:cs typeface="Times New Roman" panose="02020603050405020304" pitchFamily="18" charset="0"/>
              </a:rPr>
              <a:t>Kaggle</a:t>
            </a:r>
            <a:r>
              <a:rPr lang="en-US" dirty="0">
                <a:latin typeface="Times New Roman" panose="02020603050405020304" pitchFamily="18" charset="0"/>
                <a:cs typeface="Times New Roman" panose="02020603050405020304" pitchFamily="18" charset="0"/>
              </a:rPr>
              <a:t>, or synthetically generated pricing and demand datasets.</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065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5BBB5-38FA-290D-64E5-7CA1580BEC08}"/>
              </a:ext>
            </a:extLst>
          </p:cNvPr>
          <p:cNvSpPr>
            <a:spLocks noGrp="1"/>
          </p:cNvSpPr>
          <p:nvPr>
            <p:ph type="title"/>
          </p:nvPr>
        </p:nvSpPr>
        <p:spPr>
          <a:xfrm>
            <a:off x="762000" y="365126"/>
            <a:ext cx="10591800" cy="527504"/>
          </a:xfrm>
        </p:spPr>
        <p:txBody>
          <a:bodyPr>
            <a:normAutofit fontScale="90000"/>
          </a:bodyPr>
          <a:lstStyle/>
          <a:p>
            <a:r>
              <a:rPr lang="en-IN" dirty="0"/>
              <a:t>OBJECTIVES:</a:t>
            </a:r>
          </a:p>
        </p:txBody>
      </p:sp>
      <p:sp>
        <p:nvSpPr>
          <p:cNvPr id="3" name="Content Placeholder 2">
            <a:extLst>
              <a:ext uri="{FF2B5EF4-FFF2-40B4-BE49-F238E27FC236}">
                <a16:creationId xmlns:a16="http://schemas.microsoft.com/office/drawing/2014/main" id="{27378621-F3A7-5A61-BE68-085E59755858}"/>
              </a:ext>
            </a:extLst>
          </p:cNvPr>
          <p:cNvSpPr>
            <a:spLocks noGrp="1"/>
          </p:cNvSpPr>
          <p:nvPr>
            <p:ph idx="1"/>
          </p:nvPr>
        </p:nvSpPr>
        <p:spPr>
          <a:xfrm>
            <a:off x="838200" y="1338943"/>
            <a:ext cx="10515600" cy="483802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main objective of this project is to develop an intelligent pricing system that adapts dynamically to market conditions in order to maximize profit using machine learning techniques. The specific objectives are as follows: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analyze historical pricing and demand data to understand the relationship between price and customer demand.</a:t>
            </a:r>
          </a:p>
          <a:p>
            <a:pPr algn="just"/>
            <a:r>
              <a:rPr lang="en-US" dirty="0">
                <a:latin typeface="Times New Roman" panose="02020603050405020304" pitchFamily="18" charset="0"/>
                <a:cs typeface="Times New Roman" panose="02020603050405020304" pitchFamily="18" charset="0"/>
              </a:rPr>
              <a:t>To develop machine learning models capable of predicting product demand based on pricing and other influencing factors.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2782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A8F8EF-CF6F-567B-4D20-1814EB6F8779}"/>
              </a:ext>
            </a:extLst>
          </p:cNvPr>
          <p:cNvSpPr>
            <a:spLocks noGrp="1"/>
          </p:cNvSpPr>
          <p:nvPr>
            <p:ph idx="1"/>
          </p:nvPr>
        </p:nvSpPr>
        <p:spPr>
          <a:xfrm>
            <a:off x="838200" y="642257"/>
            <a:ext cx="10515600" cy="5534706"/>
          </a:xfrm>
        </p:spPr>
        <p:txBody>
          <a:bodyPr/>
          <a:lstStyle/>
          <a:p>
            <a:pPr algn="just"/>
            <a:r>
              <a:rPr lang="en-US" dirty="0">
                <a:latin typeface="Times New Roman" panose="02020603050405020304" pitchFamily="18" charset="0"/>
                <a:cs typeface="Times New Roman" panose="02020603050405020304" pitchFamily="18" charset="0"/>
              </a:rPr>
              <a:t>To design an adaptive pricing mechanism that automatically adjusts product prices to optimize overall profit.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implement an iterative development model that continuously improves pricing accuracy using feedback from previous iterations.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evaluate the performance of the proposed model using appropriate statistical and machine learning metrics.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demonstrate the effectiveness of machine learning-based pricing over traditional static pricing methods.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455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A00D2-259E-6D52-723F-2182C6BFAD36}"/>
              </a:ext>
            </a:extLst>
          </p:cNvPr>
          <p:cNvSpPr>
            <a:spLocks noGrp="1"/>
          </p:cNvSpPr>
          <p:nvPr>
            <p:ph type="title"/>
          </p:nvPr>
        </p:nvSpPr>
        <p:spPr>
          <a:xfrm>
            <a:off x="838200" y="365125"/>
            <a:ext cx="10515600" cy="636361"/>
          </a:xfrm>
        </p:spPr>
        <p:txBody>
          <a:bodyPr>
            <a:normAutofit fontScale="90000"/>
          </a:bodyPr>
          <a:lstStyle/>
          <a:p>
            <a:r>
              <a:rPr lang="en-IN" dirty="0">
                <a:latin typeface="Times New Roman" panose="02020603050405020304" pitchFamily="18" charset="0"/>
                <a:cs typeface="Times New Roman" panose="02020603050405020304" pitchFamily="18" charset="0"/>
              </a:rPr>
              <a:t>Basic Methodology</a:t>
            </a:r>
          </a:p>
        </p:txBody>
      </p:sp>
      <p:sp>
        <p:nvSpPr>
          <p:cNvPr id="3" name="Content Placeholder 2">
            <a:extLst>
              <a:ext uri="{FF2B5EF4-FFF2-40B4-BE49-F238E27FC236}">
                <a16:creationId xmlns:a16="http://schemas.microsoft.com/office/drawing/2014/main" id="{510052BE-4234-96ED-0EC6-5556A1AE21FA}"/>
              </a:ext>
            </a:extLst>
          </p:cNvPr>
          <p:cNvSpPr>
            <a:spLocks noGrp="1"/>
          </p:cNvSpPr>
          <p:nvPr>
            <p:ph idx="1"/>
          </p:nvPr>
        </p:nvSpPr>
        <p:spPr>
          <a:xfrm>
            <a:off x="838200" y="1121229"/>
            <a:ext cx="10515600" cy="5055734"/>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The project follows a structured methodology combined with an </a:t>
            </a:r>
            <a:r>
              <a:rPr lang="en-US" b="1" dirty="0">
                <a:latin typeface="Times New Roman" panose="02020603050405020304" pitchFamily="18" charset="0"/>
                <a:cs typeface="Times New Roman" panose="02020603050405020304" pitchFamily="18" charset="0"/>
              </a:rPr>
              <a:t>Iterative Development Model</a:t>
            </a:r>
            <a:r>
              <a:rPr lang="en-US" dirty="0">
                <a:latin typeface="Times New Roman" panose="02020603050405020304" pitchFamily="18" charset="0"/>
                <a:cs typeface="Times New Roman" panose="02020603050405020304" pitchFamily="18" charset="0"/>
              </a:rPr>
              <a:t>, allowing continuous refinement of the pricing strategy. The methodology consists of the following stages: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u="sng" dirty="0">
                <a:latin typeface="Times New Roman" panose="02020603050405020304" pitchFamily="18" charset="0"/>
                <a:cs typeface="Times New Roman" panose="02020603050405020304" pitchFamily="18" charset="0"/>
              </a:rPr>
              <a:t>Data Collection</a:t>
            </a:r>
          </a:p>
          <a:p>
            <a:pPr marL="0" indent="0" algn="just">
              <a:buNone/>
            </a:pPr>
            <a:r>
              <a:rPr lang="en-US" dirty="0">
                <a:latin typeface="Times New Roman" panose="02020603050405020304" pitchFamily="18" charset="0"/>
                <a:cs typeface="Times New Roman" panose="02020603050405020304" pitchFamily="18" charset="0"/>
              </a:rPr>
              <a:t>Historical data related to product prices, demand, sales volume, and cost is collected from publicly available datasets or generated synthetically to simulate real-world pricing scenarios.</a:t>
            </a:r>
          </a:p>
          <a:p>
            <a:pPr marL="0" indent="0" algn="just">
              <a:buNone/>
            </a:pPr>
            <a:r>
              <a:rPr lang="en-US" b="1" u="sng" dirty="0">
                <a:latin typeface="Times New Roman" panose="02020603050405020304" pitchFamily="18" charset="0"/>
                <a:cs typeface="Times New Roman" panose="02020603050405020304" pitchFamily="18" charset="0"/>
              </a:rPr>
              <a:t>Data Preprocessing</a:t>
            </a:r>
          </a:p>
          <a:p>
            <a:pPr marL="0" indent="0" algn="just">
              <a:buNone/>
            </a:pPr>
            <a:r>
              <a:rPr lang="en-US" dirty="0">
                <a:latin typeface="Times New Roman" panose="02020603050405020304" pitchFamily="18" charset="0"/>
                <a:cs typeface="Times New Roman" panose="02020603050405020304" pitchFamily="18" charset="0"/>
              </a:rPr>
              <a:t>The collected data is cleaned by handling missing values, removing outliers, and normalizing relevant features to ensure quality input for machine learning models.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0073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5DE1A7-9A22-DAD7-61E5-2788363BC26B}"/>
              </a:ext>
            </a:extLst>
          </p:cNvPr>
          <p:cNvSpPr>
            <a:spLocks noGrp="1"/>
          </p:cNvSpPr>
          <p:nvPr>
            <p:ph idx="1"/>
          </p:nvPr>
        </p:nvSpPr>
        <p:spPr>
          <a:xfrm>
            <a:off x="500743" y="468086"/>
            <a:ext cx="10853057" cy="6193971"/>
          </a:xfrm>
        </p:spPr>
        <p:txBody>
          <a:bodyPr>
            <a:normAutofit fontScale="92500" lnSpcReduction="20000"/>
          </a:bodyPr>
          <a:lstStyle/>
          <a:p>
            <a:r>
              <a:rPr lang="en-US" b="1" u="sng" dirty="0">
                <a:latin typeface="Times New Roman" panose="02020603050405020304" pitchFamily="18" charset="0"/>
                <a:cs typeface="Times New Roman" panose="02020603050405020304" pitchFamily="18" charset="0"/>
              </a:rPr>
              <a:t>Exploratory Data Analysis (EDA)</a:t>
            </a:r>
            <a:br>
              <a:rPr lang="en-US" u="sng"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Data visualization techniques are applied to identify trends, correlations, and patterns between price, demand, and profit.</a:t>
            </a:r>
          </a:p>
          <a:p>
            <a:r>
              <a:rPr lang="en-US" b="1" u="sng" dirty="0">
                <a:latin typeface="Times New Roman" panose="02020603050405020304" pitchFamily="18" charset="0"/>
                <a:cs typeface="Times New Roman" panose="02020603050405020304" pitchFamily="18" charset="0"/>
              </a:rPr>
              <a:t>Feature Engineering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Important features such as seasonal demand, competitor pricing (if available), and cost margins are selected or derived to enhance model performance.</a:t>
            </a:r>
          </a:p>
          <a:p>
            <a:r>
              <a:rPr lang="en-US" b="1" u="sng" dirty="0">
                <a:latin typeface="Times New Roman" panose="02020603050405020304" pitchFamily="18" charset="0"/>
                <a:cs typeface="Times New Roman" panose="02020603050405020304" pitchFamily="18" charset="0"/>
              </a:rPr>
              <a:t>Model Development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Machine learning regression models are trained to predict demand based on input features. Multiple models are tested to identify the most accurate one.</a:t>
            </a:r>
          </a:p>
          <a:p>
            <a:r>
              <a:rPr lang="en-US" b="1" u="sng" dirty="0">
                <a:latin typeface="Times New Roman" panose="02020603050405020304" pitchFamily="18" charset="0"/>
                <a:cs typeface="Times New Roman" panose="02020603050405020304" pitchFamily="18" charset="0"/>
              </a:rPr>
              <a:t>Profit Optimization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Predicted demand values are used to calculate profit at different price points, and the optimal price is selected to maximize profit.</a:t>
            </a:r>
          </a:p>
          <a:p>
            <a:r>
              <a:rPr lang="en-US" b="1" u="sng" dirty="0">
                <a:latin typeface="Times New Roman" panose="02020603050405020304" pitchFamily="18" charset="0"/>
                <a:cs typeface="Times New Roman" panose="02020603050405020304" pitchFamily="18" charset="0"/>
              </a:rPr>
              <a:t>Iterative Model Improvement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model performance is evaluated, and feedback from results is used to retrain and improve the model in successive iterations.</a:t>
            </a:r>
          </a:p>
          <a:p>
            <a:r>
              <a:rPr lang="en-US" b="1" u="sng" dirty="0">
                <a:latin typeface="Times New Roman" panose="02020603050405020304" pitchFamily="18" charset="0"/>
                <a:cs typeface="Times New Roman" panose="02020603050405020304" pitchFamily="18" charset="0"/>
              </a:rPr>
              <a:t>Performance Evaluation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final model is evaluated using metrics such as Mean Squared Error (MSE) and R² score to validate accuracy and effectiveness.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7507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E3C2-C7C0-0CD0-2F67-9A642074571C}"/>
              </a:ext>
            </a:extLst>
          </p:cNvPr>
          <p:cNvSpPr>
            <a:spLocks noGrp="1"/>
          </p:cNvSpPr>
          <p:nvPr>
            <p:ph type="title"/>
          </p:nvPr>
        </p:nvSpPr>
        <p:spPr>
          <a:xfrm>
            <a:off x="838200" y="365126"/>
            <a:ext cx="10515600" cy="647246"/>
          </a:xfrm>
        </p:spPr>
        <p:txBody>
          <a:bodyPr>
            <a:normAutofit fontScale="90000"/>
          </a:bodyPr>
          <a:lstStyle/>
          <a:p>
            <a:r>
              <a:rPr lang="en-US" dirty="0">
                <a:latin typeface="Times New Roman" panose="02020603050405020304" pitchFamily="18" charset="0"/>
                <a:cs typeface="Times New Roman" panose="02020603050405020304" pitchFamily="18" charset="0"/>
              </a:rPr>
              <a:t>GANTT CHART</a:t>
            </a:r>
            <a:endParaRPr lang="en-IN"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5A17D2D3-2E27-A65F-57DD-82D2DF43ABF4}"/>
              </a:ext>
            </a:extLst>
          </p:cNvPr>
          <p:cNvPicPr>
            <a:picLocks noGrp="1" noChangeAspect="1"/>
          </p:cNvPicPr>
          <p:nvPr>
            <p:ph idx="1"/>
          </p:nvPr>
        </p:nvPicPr>
        <p:blipFill>
          <a:blip r:embed="rId2"/>
          <a:stretch>
            <a:fillRect/>
          </a:stretch>
        </p:blipFill>
        <p:spPr>
          <a:xfrm>
            <a:off x="936172" y="1121229"/>
            <a:ext cx="10417628" cy="5055734"/>
          </a:xfrm>
          <a:prstGeom prst="rect">
            <a:avLst/>
          </a:prstGeom>
        </p:spPr>
      </p:pic>
    </p:spTree>
    <p:extLst>
      <p:ext uri="{BB962C8B-B14F-4D97-AF65-F5344CB8AC3E}">
        <p14:creationId xmlns:p14="http://schemas.microsoft.com/office/powerpoint/2010/main" val="3896282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F26FDEF0-9ECF-18E6-3EB8-004394419E2C}"/>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206829"/>
            <a:ext cx="12191999" cy="6651171"/>
          </a:xfrm>
        </p:spPr>
      </p:pic>
    </p:spTree>
    <p:extLst>
      <p:ext uri="{BB962C8B-B14F-4D97-AF65-F5344CB8AC3E}">
        <p14:creationId xmlns:p14="http://schemas.microsoft.com/office/powerpoint/2010/main" val="1608055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708</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Adaptive Pricing and Profit Optimization Using Machine Learning with an Iterative Development Model</vt:lpstr>
      <vt:lpstr>INTRODUCTION:</vt:lpstr>
      <vt:lpstr>Identification of Tools / Equipment / Training Needs</vt:lpstr>
      <vt:lpstr>PowerPoint Presentation</vt:lpstr>
      <vt:lpstr>OBJECTIVES:</vt:lpstr>
      <vt:lpstr>PowerPoint Presentation</vt:lpstr>
      <vt:lpstr>Basic Methodology</vt:lpstr>
      <vt:lpstr>PowerPoint Presentation</vt:lpstr>
      <vt:lpstr>GANTT CHART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manojkumar gunturu</dc:creator>
  <cp:lastModifiedBy>manojkumar gunturu</cp:lastModifiedBy>
  <cp:revision>1</cp:revision>
  <dcterms:created xsi:type="dcterms:W3CDTF">2026-01-28T10:18:00Z</dcterms:created>
  <dcterms:modified xsi:type="dcterms:W3CDTF">2026-01-29T03:20:59Z</dcterms:modified>
</cp:coreProperties>
</file>